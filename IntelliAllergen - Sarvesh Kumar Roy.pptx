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69" y="542036"/>
            <a:ext cx="212915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2725" cy="657225"/>
          </a:xfrm>
          <a:custGeom>
            <a:avLst/>
            <a:gdLst/>
            <a:ahLst/>
            <a:cxnLst/>
            <a:rect l="l" t="t" r="r" b="b"/>
            <a:pathLst>
              <a:path w="10372725" h="657225">
                <a:moveTo>
                  <a:pt x="10372725" y="0"/>
                </a:moveTo>
                <a:lnTo>
                  <a:pt x="0" y="0"/>
                </a:lnTo>
                <a:lnTo>
                  <a:pt x="0" y="657225"/>
                </a:lnTo>
                <a:lnTo>
                  <a:pt x="10372725" y="657225"/>
                </a:lnTo>
                <a:lnTo>
                  <a:pt x="10372725" y="0"/>
                </a:lnTo>
                <a:close/>
              </a:path>
            </a:pathLst>
          </a:custGeom>
          <a:solidFill>
            <a:srgbClr val="2535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96075"/>
            <a:ext cx="12192000" cy="161925"/>
          </a:xfrm>
          <a:custGeom>
            <a:avLst/>
            <a:gdLst/>
            <a:ahLst/>
            <a:cxnLst/>
            <a:rect l="l" t="t" r="r" b="b"/>
            <a:pathLst>
              <a:path w="12192000" h="161925">
                <a:moveTo>
                  <a:pt x="12192000" y="0"/>
                </a:moveTo>
                <a:lnTo>
                  <a:pt x="0" y="0"/>
                </a:lnTo>
                <a:lnTo>
                  <a:pt x="0" y="161925"/>
                </a:lnTo>
                <a:lnTo>
                  <a:pt x="12192000" y="1619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26338" y="134286"/>
            <a:ext cx="1357906" cy="386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69" y="542036"/>
            <a:ext cx="7387590" cy="916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907" y="1547749"/>
            <a:ext cx="10413365" cy="39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lliallergen-dersed6g6a64x9vy8x82et.streamlit.ap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ysarvesh/IntelliAllerge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390525" cy="3429000"/>
            </a:xfrm>
            <a:custGeom>
              <a:avLst/>
              <a:gdLst/>
              <a:ahLst/>
              <a:cxnLst/>
              <a:rect l="l" t="t" r="r" b="b"/>
              <a:pathLst>
                <a:path w="390525" h="3429000">
                  <a:moveTo>
                    <a:pt x="0" y="3429000"/>
                  </a:moveTo>
                  <a:lnTo>
                    <a:pt x="390524" y="3429000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5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5575"/>
              <a:ext cx="12192000" cy="352425"/>
            </a:xfrm>
            <a:custGeom>
              <a:avLst/>
              <a:gdLst/>
              <a:ahLst/>
              <a:cxnLst/>
              <a:rect l="l" t="t" r="r" b="b"/>
              <a:pathLst>
                <a:path w="12192000" h="352425">
                  <a:moveTo>
                    <a:pt x="0" y="352425"/>
                  </a:moveTo>
                  <a:lnTo>
                    <a:pt x="12192000" y="3524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670" y="360388"/>
              <a:ext cx="1595980" cy="4560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50" y="238061"/>
              <a:ext cx="6415151" cy="6510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1150" y="266700"/>
              <a:ext cx="6115050" cy="6210300"/>
            </a:xfrm>
            <a:custGeom>
              <a:avLst/>
              <a:gdLst/>
              <a:ahLst/>
              <a:cxnLst/>
              <a:rect l="l" t="t" r="r" b="b"/>
              <a:pathLst>
                <a:path w="6115050" h="6210300">
                  <a:moveTo>
                    <a:pt x="611505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6115050" y="6210300"/>
                  </a:lnTo>
                  <a:lnTo>
                    <a:pt x="611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41681" y="962025"/>
              <a:ext cx="4328338" cy="493395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582" y="1239138"/>
            <a:ext cx="32023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5" dirty="0">
                <a:latin typeface="Calibri"/>
                <a:cs typeface="Calibri"/>
              </a:rPr>
              <a:t>CAPSTONE</a:t>
            </a:r>
            <a:r>
              <a:rPr sz="2750" spc="-100" dirty="0">
                <a:latin typeface="Calibri"/>
                <a:cs typeface="Calibri"/>
              </a:rPr>
              <a:t> </a:t>
            </a:r>
            <a:r>
              <a:rPr sz="2750" spc="120" dirty="0">
                <a:latin typeface="Calibri"/>
                <a:cs typeface="Calibri"/>
              </a:rPr>
              <a:t>PROJECT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582" y="2269426"/>
            <a:ext cx="4341495" cy="37263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400" b="1" dirty="0" err="1"/>
              <a:t>IntelliAllergen</a:t>
            </a:r>
            <a:r>
              <a:rPr lang="en-US" sz="2400" b="1" dirty="0"/>
              <a:t>: AI-Powered Allergen Detection System for Safer Food Choices</a:t>
            </a:r>
          </a:p>
          <a:p>
            <a:pPr marL="88900" marR="2707005" lvl="3" algn="l">
              <a:lnSpc>
                <a:spcPct val="179700"/>
              </a:lnSpc>
              <a:spcBef>
                <a:spcPts val="3995"/>
              </a:spcBef>
            </a:pPr>
            <a:r>
              <a:rPr sz="1550" b="1" spc="140" dirty="0">
                <a:latin typeface="Calibri"/>
                <a:cs typeface="Calibri"/>
              </a:rPr>
              <a:t>PRESENTED</a:t>
            </a:r>
            <a:r>
              <a:rPr sz="1550" b="1" spc="40" dirty="0">
                <a:latin typeface="Calibri"/>
                <a:cs typeface="Calibri"/>
              </a:rPr>
              <a:t> BY</a:t>
            </a:r>
            <a:r>
              <a:rPr lang="en-IN" sz="1550" b="1" spc="40" dirty="0">
                <a:latin typeface="Calibri"/>
                <a:cs typeface="Calibri"/>
              </a:rPr>
              <a:t> </a:t>
            </a:r>
            <a:r>
              <a:rPr sz="1550" b="1" spc="40" dirty="0">
                <a:latin typeface="Calibri"/>
                <a:cs typeface="Calibri"/>
              </a:rPr>
              <a:t> </a:t>
            </a:r>
            <a:r>
              <a:rPr sz="1550" b="1" spc="110" dirty="0">
                <a:latin typeface="Calibri"/>
                <a:cs typeface="Calibri"/>
              </a:rPr>
              <a:t>STUDENT</a:t>
            </a:r>
            <a:r>
              <a:rPr sz="1550" b="1" dirty="0">
                <a:latin typeface="Calibri"/>
                <a:cs typeface="Calibri"/>
              </a:rPr>
              <a:t> </a:t>
            </a:r>
            <a:r>
              <a:rPr sz="1550" b="1" spc="40" dirty="0">
                <a:latin typeface="Calibri"/>
                <a:cs typeface="Calibri"/>
              </a:rPr>
              <a:t>NAME:</a:t>
            </a:r>
            <a:r>
              <a:rPr lang="en-IN" sz="1550" b="1" spc="40" dirty="0">
                <a:latin typeface="Calibri"/>
                <a:cs typeface="Calibri"/>
              </a:rPr>
              <a:t> </a:t>
            </a:r>
            <a:r>
              <a:rPr sz="1550" b="1" spc="170" dirty="0">
                <a:latin typeface="Calibri"/>
                <a:cs typeface="Calibri"/>
              </a:rPr>
              <a:t>COLLEGE</a:t>
            </a:r>
            <a:r>
              <a:rPr sz="1550" b="1" spc="-40" dirty="0">
                <a:latin typeface="Calibri"/>
                <a:cs typeface="Calibri"/>
              </a:rPr>
              <a:t> </a:t>
            </a:r>
            <a:r>
              <a:rPr sz="1550" b="1" spc="55" dirty="0">
                <a:latin typeface="Calibri"/>
                <a:cs typeface="Calibri"/>
              </a:rPr>
              <a:t>NAME:</a:t>
            </a:r>
            <a:r>
              <a:rPr lang="en-IN" sz="1550" b="1" spc="55" dirty="0">
                <a:latin typeface="Calibri"/>
                <a:cs typeface="Calibri"/>
              </a:rPr>
              <a:t> </a:t>
            </a:r>
            <a:r>
              <a:rPr sz="1550" b="1" spc="65" dirty="0">
                <a:latin typeface="Calibri"/>
                <a:cs typeface="Calibri"/>
              </a:rPr>
              <a:t>DEPARTMENT: EMAIL</a:t>
            </a:r>
            <a:r>
              <a:rPr sz="1550" b="1" spc="55" dirty="0">
                <a:latin typeface="Calibri"/>
                <a:cs typeface="Calibri"/>
              </a:rPr>
              <a:t> </a:t>
            </a:r>
            <a:r>
              <a:rPr sz="1550" b="1" spc="45" dirty="0">
                <a:latin typeface="Calibri"/>
                <a:cs typeface="Calibri"/>
              </a:rPr>
              <a:t>ID: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449C8-3FBE-84BD-9B14-CCA518311C4C}"/>
              </a:ext>
            </a:extLst>
          </p:cNvPr>
          <p:cNvSpPr txBox="1"/>
          <p:nvPr/>
        </p:nvSpPr>
        <p:spPr>
          <a:xfrm>
            <a:off x="2165273" y="4357778"/>
            <a:ext cx="337415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50" dirty="0"/>
              <a:t>Sarvesh Kumar Roy</a:t>
            </a:r>
          </a:p>
          <a:p>
            <a:endParaRPr lang="en-IN" sz="1550" dirty="0"/>
          </a:p>
          <a:p>
            <a:r>
              <a:rPr lang="en-IN" sz="1550" dirty="0" err="1"/>
              <a:t>Lingaya’s</a:t>
            </a:r>
            <a:r>
              <a:rPr lang="en-IN" sz="1550" dirty="0"/>
              <a:t> Vidyapeeth</a:t>
            </a:r>
          </a:p>
          <a:p>
            <a:endParaRPr lang="en-IN" sz="15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BCF4F-108F-FD1D-0C6F-0082FE4DD490}"/>
              </a:ext>
            </a:extLst>
          </p:cNvPr>
          <p:cNvSpPr txBox="1"/>
          <p:nvPr/>
        </p:nvSpPr>
        <p:spPr>
          <a:xfrm>
            <a:off x="1916159" y="5232728"/>
            <a:ext cx="332259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50" dirty="0"/>
              <a:t>Computer Science and Engineering</a:t>
            </a:r>
          </a:p>
          <a:p>
            <a:endParaRPr lang="en-IN" sz="15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B146CB-131F-2641-E8B5-DD4AE085919A}"/>
              </a:ext>
            </a:extLst>
          </p:cNvPr>
          <p:cNvSpPr txBox="1"/>
          <p:nvPr/>
        </p:nvSpPr>
        <p:spPr>
          <a:xfrm>
            <a:off x="1527060" y="5665167"/>
            <a:ext cx="3374150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50" dirty="0"/>
              <a:t>sarveshkumarro007@gmail.com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9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0" dirty="0"/>
              <a:t>OUTLINE: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512444" y="1703196"/>
            <a:ext cx="6943725" cy="3652923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Problem</a:t>
            </a:r>
            <a:r>
              <a:rPr sz="2150" b="1" spc="22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Statement</a:t>
            </a:r>
            <a:r>
              <a:rPr sz="2150" b="1" spc="160" dirty="0">
                <a:latin typeface="Arial"/>
                <a:cs typeface="Arial"/>
              </a:rPr>
              <a:t> </a:t>
            </a:r>
            <a:endParaRPr lang="en-IN" sz="2150" b="1" spc="16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Proposed</a:t>
            </a:r>
            <a:r>
              <a:rPr sz="2150" b="1" spc="21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System/Solution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System</a:t>
            </a:r>
            <a:r>
              <a:rPr sz="2150" b="1" spc="20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Development</a:t>
            </a:r>
            <a:r>
              <a:rPr sz="2150" b="1" spc="3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Approach</a:t>
            </a:r>
            <a:r>
              <a:rPr sz="2150" b="1" spc="225" dirty="0">
                <a:latin typeface="Arial"/>
                <a:cs typeface="Arial"/>
              </a:rPr>
              <a:t> </a:t>
            </a:r>
            <a:endParaRPr lang="en-IN" sz="2150" b="1" spc="225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Algorithm</a:t>
            </a:r>
            <a:r>
              <a:rPr sz="2150" b="1" spc="13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&amp;</a:t>
            </a:r>
            <a:r>
              <a:rPr sz="2150" b="1" spc="114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Deployment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Result</a:t>
            </a:r>
            <a:r>
              <a:rPr sz="2150" b="1" spc="17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(Output</a:t>
            </a:r>
            <a:r>
              <a:rPr sz="2150" b="1" spc="17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Image)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Conclusion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Future</a:t>
            </a:r>
            <a:r>
              <a:rPr sz="2150" b="1" spc="15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Scope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References</a:t>
            </a:r>
            <a:endParaRPr sz="2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60" dirty="0"/>
              <a:t> </a:t>
            </a:r>
            <a:r>
              <a:rPr spc="-55" dirty="0"/>
              <a:t>STATEMENT: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9570" y="1712531"/>
            <a:ext cx="10269220" cy="410753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r>
              <a:rPr lang="en-US" sz="2400" dirty="0"/>
              <a:t>Food allergies affect millions of people worldwide and can cause severe or life-threatening reactions.</a:t>
            </a:r>
          </a:p>
          <a:p>
            <a:r>
              <a:rPr lang="en-US" sz="2400" dirty="0"/>
              <a:t>However: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Packaged food contains complex ingredient lists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Allergen identification is often manual and confusing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Users must carefully read and interpret ingredients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Hidden allergens may not be easily recognizable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Human error can lead to dangerous health risks</a:t>
            </a:r>
          </a:p>
          <a:p>
            <a:r>
              <a:rPr lang="en-US" sz="2400" dirty="0"/>
              <a:t>Therefore, there is a need for an intelligent system that can automatically detect potential allergens from ingredient-level food data and provide instant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69" y="542036"/>
            <a:ext cx="58337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85" dirty="0"/>
              <a:t> </a:t>
            </a:r>
            <a:r>
              <a:rPr spc="-10" dirty="0"/>
              <a:t>SOLUTION: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132" y="1310322"/>
            <a:ext cx="10205720" cy="218970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r>
              <a:rPr lang="en-IN" sz="2000" dirty="0" err="1"/>
              <a:t>IntelliAllergen</a:t>
            </a:r>
            <a:r>
              <a:rPr lang="en-IN" sz="2000" dirty="0"/>
              <a:t> is an AI-powered web application that:</a:t>
            </a:r>
          </a:p>
          <a:p>
            <a:r>
              <a:rPr lang="en-IN" sz="2000" dirty="0"/>
              <a:t>✔ Detects allergens using a trained Machine Learning model</a:t>
            </a:r>
            <a:br>
              <a:rPr lang="en-IN" sz="2000" dirty="0"/>
            </a:br>
            <a:r>
              <a:rPr lang="en-IN" sz="2000" dirty="0"/>
              <a:t>✔ Provides real-time allergen predictions</a:t>
            </a:r>
            <a:br>
              <a:rPr lang="en-IN" sz="2000" dirty="0"/>
            </a:br>
            <a:r>
              <a:rPr lang="en-IN" sz="2000" dirty="0"/>
              <a:t>✔ Supports multiple ingredient inputs</a:t>
            </a:r>
            <a:br>
              <a:rPr lang="en-IN" sz="2000" dirty="0"/>
            </a:br>
            <a:r>
              <a:rPr lang="en-IN" sz="2000" dirty="0"/>
              <a:t>✔ Displays instant safety alerts</a:t>
            </a:r>
            <a:br>
              <a:rPr lang="en-IN" sz="2000" dirty="0"/>
            </a:br>
            <a:r>
              <a:rPr lang="en-IN" sz="2000" dirty="0"/>
              <a:t>✔ Uses a clean and interactive </a:t>
            </a:r>
            <a:r>
              <a:rPr lang="en-IN" sz="2000" dirty="0" err="1"/>
              <a:t>Streamlit</a:t>
            </a:r>
            <a:r>
              <a:rPr lang="en-IN" sz="2000" dirty="0"/>
              <a:t> interface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" y="638174"/>
            <a:ext cx="545211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364105" algn="l"/>
              </a:tabLst>
            </a:pPr>
            <a:r>
              <a:rPr spc="-10" dirty="0"/>
              <a:t>SYSTEM</a:t>
            </a:r>
            <a:r>
              <a:rPr dirty="0"/>
              <a:t>	</a:t>
            </a:r>
            <a:r>
              <a:rPr spc="-10" dirty="0"/>
              <a:t>APPROACH: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447800"/>
            <a:ext cx="9782175" cy="462947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r>
              <a:rPr lang="en-IN" sz="1600" b="1" dirty="0"/>
              <a:t>1️⃣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Dataset: Allergen Status of Food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Ingredient-level food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Labeled</a:t>
            </a:r>
            <a:r>
              <a:rPr lang="en-IN" sz="1600" dirty="0"/>
              <a:t> allergen presence/absence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2️⃣ 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Handling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Encoding categorical features using Leave-One-Out Encoder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Feature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Splitting into training &amp; testing datasets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3️⃣ Model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Random Forest Classifier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Trained on processed ingredient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Optimized for fast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Saved using </a:t>
            </a:r>
            <a:r>
              <a:rPr lang="en-IN" sz="1600" dirty="0" err="1"/>
              <a:t>Joblib</a:t>
            </a:r>
            <a:r>
              <a:rPr lang="en-IN" sz="1600" dirty="0"/>
              <a:t> (.</a:t>
            </a:r>
            <a:r>
              <a:rPr lang="en-IN" sz="1600" dirty="0" err="1"/>
              <a:t>pkl</a:t>
            </a:r>
            <a:r>
              <a:rPr lang="en-IN" sz="1600" dirty="0"/>
              <a:t> files)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ALGORITHM</a:t>
            </a:r>
            <a:r>
              <a:rPr spc="105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spc="65" dirty="0"/>
              <a:t>D</a:t>
            </a:r>
            <a:r>
              <a:rPr spc="-10" dirty="0"/>
              <a:t>E</a:t>
            </a:r>
            <a:r>
              <a:rPr spc="60" dirty="0"/>
              <a:t>P</a:t>
            </a:r>
            <a:r>
              <a:rPr spc="-15" dirty="0"/>
              <a:t>L</a:t>
            </a:r>
            <a:r>
              <a:rPr spc="70" dirty="0"/>
              <a:t>O</a:t>
            </a:r>
            <a:r>
              <a:rPr spc="-10" dirty="0"/>
              <a:t>Y</a:t>
            </a:r>
            <a:r>
              <a:rPr spc="75" dirty="0"/>
              <a:t>M</a:t>
            </a:r>
            <a:r>
              <a:rPr spc="-10" dirty="0"/>
              <a:t>E</a:t>
            </a:r>
            <a:r>
              <a:rPr spc="65" dirty="0"/>
              <a:t>N</a:t>
            </a:r>
            <a:r>
              <a:rPr spc="-465" dirty="0"/>
              <a:t>T</a:t>
            </a:r>
            <a:r>
              <a:rPr spc="2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1423656"/>
            <a:ext cx="10413365" cy="52142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Used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method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decision trees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 via majority voting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classification tasks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ingredients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encoded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performs prediction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Allergen detected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/ Unsafe alert</a:t>
            </a:r>
          </a:p>
          <a:p>
            <a:pPr lvl="1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built using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loaded from: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Allergen_detection.pkl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leave_one_out_encoder.pkl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enabled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Live Demo: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https://intelliallergen-dersed6g6a64x9vy8x82et.streamlit.app/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spc="2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219200"/>
            <a:ext cx="9277350" cy="1341393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r>
              <a:rPr lang="en-IN" sz="1400" b="1" dirty="0"/>
              <a:t>Key Outputs:</a:t>
            </a:r>
            <a:endParaRPr lang="en-IN" sz="1400" dirty="0"/>
          </a:p>
          <a:p>
            <a:r>
              <a:rPr lang="en-IN" sz="1400" dirty="0"/>
              <a:t>✔ Instant allergen detection</a:t>
            </a:r>
            <a:br>
              <a:rPr lang="en-IN" sz="1400" dirty="0"/>
            </a:br>
            <a:r>
              <a:rPr lang="en-IN" sz="1400" dirty="0"/>
              <a:t>✔ Clear alert messages</a:t>
            </a:r>
            <a:br>
              <a:rPr lang="en-IN" sz="1400" dirty="0"/>
            </a:br>
            <a:r>
              <a:rPr lang="en-IN" sz="1400" dirty="0"/>
              <a:t>✔ Multi-ingredient input support</a:t>
            </a:r>
            <a:br>
              <a:rPr lang="en-IN" sz="1400" dirty="0"/>
            </a:br>
            <a:r>
              <a:rPr lang="en-IN" sz="1400" dirty="0"/>
              <a:t>✔ Fast response time</a:t>
            </a:r>
            <a:br>
              <a:rPr lang="en-IN" sz="1400" dirty="0"/>
            </a:br>
            <a:r>
              <a:rPr lang="en-IN" sz="1400" dirty="0"/>
              <a:t>✔ User-friendly 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0A328-13FA-2775-E670-ED67D8B6C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6" y="2560594"/>
            <a:ext cx="12171784" cy="41450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F159-39EF-8C5D-EA33-A7CB749A8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D065E7-008C-1893-AA0E-24C1ABAB7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" y="609600"/>
            <a:ext cx="121158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8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B5DC44-12A2-3132-51D7-9001A1AB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82286"/>
            <a:ext cx="11811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/>
              <a:t>IntelliAllergen</a:t>
            </a:r>
            <a:r>
              <a:rPr lang="en-US" sz="2000" dirty="0"/>
              <a:t> successfully demonstrates how Machine Learning can enhance food safety.</a:t>
            </a:r>
          </a:p>
          <a:p>
            <a:endParaRPr lang="en-US" sz="2000" dirty="0"/>
          </a:p>
          <a:p>
            <a:r>
              <a:rPr lang="en-US" sz="2000" dirty="0"/>
              <a:t>The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Automates allergen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risk of human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real-time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Empowers users to make safer food decisions</a:t>
            </a:r>
          </a:p>
          <a:p>
            <a:endParaRPr lang="en-US" sz="2000" dirty="0"/>
          </a:p>
          <a:p>
            <a:r>
              <a:rPr lang="en-US" sz="2000" dirty="0"/>
              <a:t>This project highlights strong skills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Streamlit</a:t>
            </a:r>
            <a:r>
              <a:rPr lang="en-US" sz="2000" dirty="0"/>
              <a:t> web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35" dirty="0"/>
              <a:t> </a:t>
            </a:r>
            <a:r>
              <a:rPr spc="-10" dirty="0"/>
              <a:t>SCOPE: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C09836-1491-6EA9-EBEB-29BC054BD2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7532" y="1614807"/>
            <a:ext cx="118329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barcode scanning for packaged foods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NLP-based ingredient parsing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to multi-allergen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real-time food database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allergen profiles for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D422855-ACCA-585A-4726-3CB91CD44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86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Official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– Food Allergen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Research Papers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Repository: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https://github.com/roysarvesh/IntelliAllergen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4601" y="3028060"/>
            <a:ext cx="30937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001F5F"/>
                </a:solidFill>
              </a:rPr>
              <a:t>Thank</a:t>
            </a:r>
            <a:r>
              <a:rPr sz="4800" spc="-195" dirty="0">
                <a:solidFill>
                  <a:srgbClr val="001F5F"/>
                </a:solidFill>
              </a:rPr>
              <a:t> </a:t>
            </a:r>
            <a:r>
              <a:rPr sz="4800" spc="-65" dirty="0">
                <a:solidFill>
                  <a:srgbClr val="001F5F"/>
                </a:solidFill>
              </a:rPr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487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Franklin Gothic Book</vt:lpstr>
      <vt:lpstr>Times New Roman</vt:lpstr>
      <vt:lpstr>Wingdings</vt:lpstr>
      <vt:lpstr>Office Theme</vt:lpstr>
      <vt:lpstr>CAPSTONE PROJECT</vt:lpstr>
      <vt:lpstr>OUTLINE:</vt:lpstr>
      <vt:lpstr>PROBLEM STATEMENT:</vt:lpstr>
      <vt:lpstr>PROPOSED SOLUTION:</vt:lpstr>
      <vt:lpstr>SYSTEM APPROACH:</vt:lpstr>
      <vt:lpstr>ALGORITHM &amp; DEPLOYMENT:</vt:lpstr>
      <vt:lpstr>RESULT:</vt:lpstr>
      <vt:lpstr>PowerPoint Presentation</vt:lpstr>
      <vt:lpstr>CONCLUSION:</vt:lpstr>
      <vt:lpstr>FUTURE SCOPE: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Dron Roy</cp:lastModifiedBy>
  <cp:revision>48</cp:revision>
  <dcterms:created xsi:type="dcterms:W3CDTF">2026-02-11T09:13:21Z</dcterms:created>
  <dcterms:modified xsi:type="dcterms:W3CDTF">2026-02-12T15:19:13Z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2026-02-11T00:00:00Z</vt:filetime>
  </property>
  <property fmtid="{D5CDD505-2E9C-101B-9397-08002B2CF9AE}" pid="4" name="Producer">
    <vt:lpwstr>3-Heights(TM) PDF Security Shell 4.8.25.2 (http://www.pdf-tools.com)</vt:lpwstr>
  </property>
</Properties>
</file>